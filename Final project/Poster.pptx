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4"/>
  </p:notesMasterIdLst>
  <p:handoutMasterIdLst>
    <p:handoutMasterId r:id="rId5"/>
  </p:handoutMasterIdLst>
  <p:sldIdLst>
    <p:sldId id="256" r:id="rId3"/>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71" autoAdjust="0"/>
    <p:restoredTop sz="94660"/>
  </p:normalViewPr>
  <p:slideViewPr>
    <p:cSldViewPr snapToGrid="0">
      <p:cViewPr varScale="1">
        <p:scale>
          <a:sx n="18" d="100"/>
          <a:sy n="18" d="100"/>
        </p:scale>
        <p:origin x="1781" y="72"/>
      </p:cViewPr>
      <p:guideLst/>
    </p:cSldViewPr>
  </p:slideViewPr>
  <p:notesTextViewPr>
    <p:cViewPr>
      <p:scale>
        <a:sx n="1" d="1"/>
        <a:sy n="1" d="1"/>
      </p:scale>
      <p:origin x="0" y="0"/>
    </p:cViewPr>
  </p:notesTextViewPr>
  <p:notesViewPr>
    <p:cSldViewPr snapToGrid="0" showGuides="1">
      <p:cViewPr varScale="1">
        <p:scale>
          <a:sx n="69" d="100"/>
          <a:sy n="69" d="100"/>
        </p:scale>
        <p:origin x="2706"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12/8/2025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‹Nº›</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12/8/2025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‹Nº›</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32" name="Instructions"/>
          <p:cNvSpPr/>
          <p:nvPr userDrawn="1"/>
        </p:nvSpPr>
        <p:spPr>
          <a:xfrm>
            <a:off x="44302680" y="-1"/>
            <a:ext cx="1244727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t"/>
          <a:lstStyle/>
          <a:p>
            <a:pPr lvl="0">
              <a:spcBef>
                <a:spcPts val="1200"/>
              </a:spcBef>
            </a:pPr>
            <a:r>
              <a:rPr sz="9600" dirty="0">
                <a:solidFill>
                  <a:prstClr val="white">
                    <a:lumMod val="50000"/>
                  </a:prstClr>
                </a:solidFill>
                <a:latin typeface="Calibri Light" panose="020F0302020204030204" pitchFamily="34" charset="0"/>
                <a:cs typeface="Calibri" panose="020F0502020204030204" pitchFamily="34" charset="0"/>
              </a:rPr>
              <a:t>Printing:</a:t>
            </a:r>
          </a:p>
          <a:p>
            <a:pPr lvl="0">
              <a:spcBef>
                <a:spcPts val="1200"/>
              </a:spcBef>
            </a:pPr>
            <a:r>
              <a:rPr lang="en-US" sz="6600" dirty="0">
                <a:solidFill>
                  <a:prstClr val="white">
                    <a:lumMod val="50000"/>
                  </a:prstClr>
                </a:solidFill>
                <a:latin typeface="Calibri Light" panose="020F0302020204030204" pitchFamily="34" charset="0"/>
                <a:cs typeface="Calibri" panose="020F0502020204030204" pitchFamily="34" charset="0"/>
              </a:rPr>
              <a:t>This poster is 48” wide by 36” high. It’s designed to be printed on a large-format printer.</a:t>
            </a:r>
          </a:p>
          <a:p>
            <a:pPr lvl="0">
              <a:spcBef>
                <a:spcPts val="300"/>
              </a:spcBef>
            </a:pPr>
            <a:endParaRPr sz="6000" dirty="0">
              <a:solidFill>
                <a:prstClr val="white">
                  <a:lumMod val="50000"/>
                </a:prstClr>
              </a:solidFill>
              <a:latin typeface="Calibri Light" panose="020F0302020204030204" pitchFamily="34" charset="0"/>
              <a:cs typeface="Calibri" panose="020F0502020204030204" pitchFamily="34" charset="0"/>
            </a:endParaRPr>
          </a:p>
          <a:p>
            <a:pPr lvl="0">
              <a:spcBef>
                <a:spcPts val="1200"/>
              </a:spcBef>
            </a:pPr>
            <a:r>
              <a:rPr sz="8800" dirty="0">
                <a:solidFill>
                  <a:prstClr val="white">
                    <a:lumMod val="50000"/>
                  </a:prstClr>
                </a:solidFill>
                <a:latin typeface="Calibri Light" panose="020F0302020204030204" pitchFamily="34" charset="0"/>
                <a:cs typeface="Calibri" panose="020F0502020204030204" pitchFamily="34" charset="0"/>
              </a:rPr>
              <a:t>Customizing the Content:</a:t>
            </a:r>
          </a:p>
          <a:p>
            <a:pPr lvl="0">
              <a:spcBef>
                <a:spcPts val="1200"/>
              </a:spcBef>
            </a:pPr>
            <a:r>
              <a:rPr sz="6600" dirty="0">
                <a:solidFill>
                  <a:prstClr val="white">
                    <a:lumMod val="50000"/>
                  </a:prstClr>
                </a:solidFill>
                <a:latin typeface="Calibri Light" panose="020F0302020204030204" pitchFamily="34" charset="0"/>
                <a:cs typeface="Calibri" panose="020F0502020204030204" pitchFamily="34" charset="0"/>
              </a:rPr>
              <a:t>The placeholders in this </a:t>
            </a:r>
            <a:r>
              <a:rPr lang="en-US" sz="6600" dirty="0">
                <a:solidFill>
                  <a:prstClr val="white">
                    <a:lumMod val="50000"/>
                  </a:prstClr>
                </a:solidFill>
                <a:latin typeface="Calibri Light" panose="020F0302020204030204" pitchFamily="34" charset="0"/>
                <a:cs typeface="Calibri" panose="020F0502020204030204" pitchFamily="34" charset="0"/>
              </a:rPr>
              <a:t>poster </a:t>
            </a:r>
            <a:r>
              <a:rPr sz="6600" dirty="0">
                <a:solidFill>
                  <a:prstClr val="white">
                    <a:lumMod val="50000"/>
                  </a:prstClr>
                </a:solidFill>
                <a:latin typeface="Calibri Light" panose="020F0302020204030204" pitchFamily="34" charset="0"/>
                <a:cs typeface="Calibri" panose="020F0502020204030204" pitchFamily="34" charset="0"/>
              </a:rPr>
              <a:t>are formatted for you. </a:t>
            </a:r>
            <a:r>
              <a:rPr lang="en-US" sz="6600" dirty="0">
                <a:solidFill>
                  <a:prstClr val="white">
                    <a:lumMod val="50000"/>
                  </a:prstClr>
                </a:solidFill>
                <a:latin typeface="Calibri Light" panose="020F0302020204030204" pitchFamily="34" charset="0"/>
                <a:cs typeface="Calibri" panose="020F0502020204030204" pitchFamily="34" charset="0"/>
              </a:rPr>
              <a:t>Type</a:t>
            </a:r>
            <a:r>
              <a:rPr lang="en-US" sz="6600" baseline="0" dirty="0">
                <a:solidFill>
                  <a:prstClr val="white">
                    <a:lumMod val="50000"/>
                  </a:prstClr>
                </a:solidFill>
                <a:latin typeface="Calibri Light" panose="020F0302020204030204" pitchFamily="34" charset="0"/>
                <a:cs typeface="Calibri" panose="020F0502020204030204" pitchFamily="34" charset="0"/>
              </a:rPr>
              <a:t> in the placeholders </a:t>
            </a:r>
            <a:r>
              <a:rPr lang="en-US" sz="6600" dirty="0">
                <a:solidFill>
                  <a:prstClr val="white">
                    <a:lumMod val="50000"/>
                  </a:prstClr>
                </a:solidFill>
                <a:latin typeface="Calibri Light" panose="020F0302020204030204" pitchFamily="34" charset="0"/>
                <a:cs typeface="Calibri" panose="020F0502020204030204" pitchFamily="34" charset="0"/>
              </a:rPr>
              <a:t>to add text, or c</a:t>
            </a:r>
            <a:r>
              <a:rPr lang="en-US" sz="6600" baseline="0" dirty="0">
                <a:solidFill>
                  <a:prstClr val="white">
                    <a:lumMod val="50000"/>
                  </a:prstClr>
                </a:solidFill>
                <a:latin typeface="Calibri Light" panose="020F0302020204030204" pitchFamily="34" charset="0"/>
                <a:cs typeface="Calibri" panose="020F0502020204030204" pitchFamily="34" charset="0"/>
              </a:rPr>
              <a:t>lick an icon to add a table, chart, SmartArt graphic, picture or multimedia file.</a:t>
            </a:r>
          </a:p>
          <a:p>
            <a:pPr lvl="0">
              <a:spcBef>
                <a:spcPts val="2400"/>
              </a:spcBef>
            </a:pPr>
            <a:r>
              <a:rPr lang="en-US" sz="6600" dirty="0">
                <a:solidFill>
                  <a:prstClr val="white">
                    <a:lumMod val="50000"/>
                  </a:prstClr>
                </a:solidFill>
                <a:latin typeface="Calibri Light" panose="020F0302020204030204" pitchFamily="34" charset="0"/>
                <a:cs typeface="Calibri" panose="020F0502020204030204" pitchFamily="34" charset="0"/>
              </a:rPr>
              <a:t>T</a:t>
            </a:r>
            <a:r>
              <a:rPr sz="6600" dirty="0">
                <a:solidFill>
                  <a:prstClr val="white">
                    <a:lumMod val="50000"/>
                  </a:prstClr>
                </a:solidFill>
                <a:latin typeface="Calibri Light" panose="020F0302020204030204" pitchFamily="34" charset="0"/>
                <a:cs typeface="Calibri" panose="020F0502020204030204" pitchFamily="34" charset="0"/>
              </a:rPr>
              <a:t>o add or remove bullet points from text, click the Bullets button on the Home tab.</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If you need more placeholders for titles, </a:t>
            </a:r>
            <a:r>
              <a:rPr lang="en-US" sz="6600" dirty="0">
                <a:solidFill>
                  <a:prstClr val="white">
                    <a:lumMod val="50000"/>
                  </a:prstClr>
                </a:solidFill>
                <a:latin typeface="Calibri Light" panose="020F0302020204030204" pitchFamily="34" charset="0"/>
                <a:cs typeface="Calibri" panose="020F0502020204030204" pitchFamily="34" charset="0"/>
              </a:rPr>
              <a:t>content</a:t>
            </a:r>
            <a:r>
              <a:rPr sz="6600" dirty="0">
                <a:solidFill>
                  <a:prstClr val="white">
                    <a:lumMod val="50000"/>
                  </a:prstClr>
                </a:solidFill>
                <a:latin typeface="Calibri Light" panose="020F0302020204030204" pitchFamily="34" charset="0"/>
                <a:cs typeface="Calibri" panose="020F0502020204030204" pitchFamily="34" charset="0"/>
              </a:rPr>
              <a:t> or body text, make a copy of what you need and drag it into place. PowerPoint’s Smart Guides will help you align it with everything else.</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Want to use your own picture</a:t>
            </a:r>
            <a:r>
              <a:rPr lang="en-US" sz="6600" dirty="0">
                <a:solidFill>
                  <a:prstClr val="white">
                    <a:lumMod val="50000"/>
                  </a:prstClr>
                </a:solidFill>
                <a:latin typeface="Calibri Light" panose="020F0302020204030204" pitchFamily="34" charset="0"/>
                <a:cs typeface="Calibri" panose="020F0502020204030204" pitchFamily="34" charset="0"/>
              </a:rPr>
              <a:t>s</a:t>
            </a:r>
            <a:r>
              <a:rPr sz="6600" dirty="0">
                <a:solidFill>
                  <a:prstClr val="white">
                    <a:lumMod val="50000"/>
                  </a:prstClr>
                </a:solidFill>
                <a:latin typeface="Calibri Light" panose="020F0302020204030204" pitchFamily="34" charset="0"/>
                <a:cs typeface="Calibri" panose="020F0502020204030204" pitchFamily="34" charset="0"/>
              </a:rPr>
              <a:t> instead of ours? No problem!</a:t>
            </a:r>
            <a:r>
              <a:rPr lang="en-US" sz="6600" dirty="0">
                <a:solidFill>
                  <a:prstClr val="white">
                    <a:lumMod val="50000"/>
                  </a:prstClr>
                </a:solidFill>
                <a:latin typeface="Calibri Light" panose="020F0302020204030204" pitchFamily="34" charset="0"/>
                <a:cs typeface="Calibri" panose="020F0502020204030204" pitchFamily="34" charset="0"/>
              </a:rPr>
              <a:t> Just click a picture, press the Delete key, then click the icon to add your picture.</a:t>
            </a:r>
            <a:endParaRPr sz="6600" dirty="0">
              <a:solidFill>
                <a:prstClr val="white">
                  <a:lumMod val="50000"/>
                </a:prstClr>
              </a:solidFill>
              <a:latin typeface="Calibri Light" panose="020F0302020204030204" pitchFamily="34" charset="0"/>
              <a:cs typeface="Calibri" panose="020F0502020204030204" pitchFamily="34" charset="0"/>
            </a:endParaRPr>
          </a:p>
        </p:txBody>
      </p:sp>
      <p:sp>
        <p:nvSpPr>
          <p:cNvPr id="6" name="Title 5"/>
          <p:cNvSpPr>
            <a:spLocks noGrp="1"/>
          </p:cNvSpPr>
          <p:nvPr>
            <p:ph type="title"/>
          </p:nvPr>
        </p:nvSpPr>
        <p:spPr/>
        <p:txBody>
          <a:bodyPr/>
          <a:lstStyle/>
          <a:p>
            <a:r>
              <a:rPr lang="en-US"/>
              <a:t>Click to edit Master title style</a:t>
            </a:r>
          </a:p>
        </p:txBody>
      </p:sp>
      <p:sp>
        <p:nvSpPr>
          <p:cNvPr id="31" name="Text Placeholder 6"/>
          <p:cNvSpPr>
            <a:spLocks noGrp="1"/>
          </p:cNvSpPr>
          <p:nvPr>
            <p:ph type="body" sz="quarter" idx="36"/>
          </p:nvPr>
        </p:nvSpPr>
        <p:spPr bwMode="auto">
          <a:xfrm>
            <a:off x="1158240" y="4093905"/>
            <a:ext cx="30174412" cy="646331"/>
          </a:xfrm>
        </p:spPr>
        <p:txBody>
          <a:bodyPr anchor="ctr">
            <a:noAutofit/>
          </a:bodyPr>
          <a:lstStyle>
            <a:lvl1pPr marL="0" indent="0">
              <a:spcBef>
                <a:spcPts val="0"/>
              </a:spcBef>
              <a:buNone/>
              <a:defRPr sz="3600">
                <a:solidFill>
                  <a:schemeClr val="bg1">
                    <a:lumMod val="75000"/>
                  </a:schemeClr>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Edit Master text styles</a:t>
            </a:r>
          </a:p>
        </p:txBody>
      </p:sp>
      <p:sp>
        <p:nvSpPr>
          <p:cNvPr id="7" name="Text Placeholder 6"/>
          <p:cNvSpPr>
            <a:spLocks noGrp="1"/>
          </p:cNvSpPr>
          <p:nvPr>
            <p:ph type="body" sz="quarter" idx="13" hasCustomPrompt="1"/>
          </p:nvPr>
        </p:nvSpPr>
        <p:spPr>
          <a:xfrm>
            <a:off x="1143000" y="5669280"/>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9" name="Text Placeholder 8"/>
          <p:cNvSpPr>
            <a:spLocks noGrp="1"/>
          </p:cNvSpPr>
          <p:nvPr>
            <p:ph type="body" sz="quarter" idx="39" hasCustomPrompt="1"/>
          </p:nvPr>
        </p:nvSpPr>
        <p:spPr bwMode="ltGray">
          <a:xfrm>
            <a:off x="1143000" y="7114032"/>
            <a:ext cx="12801600" cy="2732574"/>
          </a:xfrm>
          <a:solidFill>
            <a:schemeClr val="tx2">
              <a:lumMod val="10000"/>
              <a:lumOff val="90000"/>
            </a:schemeClr>
          </a:solidFill>
        </p:spPr>
        <p:txBody>
          <a:bodyPr lIns="365760" rIns="365760" anchor="ctr">
            <a:noAutofit/>
          </a:bodyPr>
          <a:lstStyle>
            <a:lvl1pPr marL="0" indent="0">
              <a:spcBef>
                <a:spcPts val="1200"/>
              </a:spcBef>
              <a:buFont typeface="Arial" panose="020B0604020202020204" pitchFamily="34" charset="0"/>
              <a:buNone/>
              <a:defRPr sz="4400" baseline="0"/>
            </a:lvl1pPr>
            <a:lvl2pPr marL="571500" indent="-571500">
              <a:spcBef>
                <a:spcPts val="1200"/>
              </a:spcBef>
              <a:buFont typeface="Arial" panose="020B0604020202020204" pitchFamily="34" charset="0"/>
              <a:buChar char="•"/>
              <a:defRPr sz="4400"/>
            </a:lvl2pPr>
            <a:lvl3pPr marL="571500" indent="-571500">
              <a:spcBef>
                <a:spcPts val="1200"/>
              </a:spcBef>
              <a:buFont typeface="Arial" panose="020B0604020202020204" pitchFamily="34" charset="0"/>
              <a:buChar char="•"/>
              <a:defRPr sz="4400"/>
            </a:lvl3pPr>
            <a:lvl4pPr marL="0" indent="0">
              <a:spcBef>
                <a:spcPts val="1200"/>
              </a:spcBef>
              <a:buNone/>
              <a:defRPr sz="4400"/>
            </a:lvl4pPr>
            <a:lvl5pPr marL="0" indent="0">
              <a:spcBef>
                <a:spcPts val="1200"/>
              </a:spcBef>
              <a:buNone/>
              <a:defRPr sz="4400"/>
            </a:lvl5pPr>
            <a:lvl6pPr marL="0" indent="0">
              <a:spcBef>
                <a:spcPts val="1200"/>
              </a:spcBef>
              <a:buNone/>
              <a:defRPr sz="4400"/>
            </a:lvl6pPr>
            <a:lvl7pPr marL="0" indent="0">
              <a:spcBef>
                <a:spcPts val="1200"/>
              </a:spcBef>
              <a:buNone/>
              <a:defRPr sz="4400"/>
            </a:lvl7pPr>
            <a:lvl8pPr marL="0" indent="0">
              <a:spcBef>
                <a:spcPts val="1200"/>
              </a:spcBef>
              <a:buNone/>
              <a:defRPr sz="4400"/>
            </a:lvl8pPr>
            <a:lvl9pPr marL="0" indent="0">
              <a:spcBef>
                <a:spcPts val="1200"/>
              </a:spcBef>
              <a:buNone/>
              <a:defRPr sz="4400"/>
            </a:lvl9pPr>
          </a:lstStyle>
          <a:p>
            <a:pPr lvl="0"/>
            <a:r>
              <a:rPr lang="en-US" dirty="0"/>
              <a:t>Type your question or a statement of the problem here</a:t>
            </a:r>
          </a:p>
        </p:txBody>
      </p:sp>
      <p:sp>
        <p:nvSpPr>
          <p:cNvPr id="36" name="Text Placeholder 6"/>
          <p:cNvSpPr>
            <a:spLocks noGrp="1"/>
          </p:cNvSpPr>
          <p:nvPr>
            <p:ph type="body" sz="quarter" idx="37" hasCustomPrompt="1"/>
          </p:nvPr>
        </p:nvSpPr>
        <p:spPr>
          <a:xfrm>
            <a:off x="1143000" y="10497312"/>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7" name="Content Placeholder 17"/>
          <p:cNvSpPr>
            <a:spLocks noGrp="1"/>
          </p:cNvSpPr>
          <p:nvPr>
            <p:ph sz="quarter" idx="38" hasCustomPrompt="1"/>
          </p:nvPr>
        </p:nvSpPr>
        <p:spPr>
          <a:xfrm>
            <a:off x="1143000" y="11868912"/>
            <a:ext cx="12801600" cy="280750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11" name="Text Placeholder 6"/>
          <p:cNvSpPr>
            <a:spLocks noGrp="1"/>
          </p:cNvSpPr>
          <p:nvPr>
            <p:ph type="body" sz="quarter" idx="17" hasCustomPrompt="1"/>
          </p:nvPr>
        </p:nvSpPr>
        <p:spPr>
          <a:xfrm>
            <a:off x="1143000" y="1495044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1143000" y="16440912"/>
            <a:ext cx="12801600" cy="6027461"/>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11430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11430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554480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5544800" y="7114032"/>
            <a:ext cx="12801600" cy="679555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38" name="Text Placeholder 6"/>
          <p:cNvSpPr>
            <a:spLocks noGrp="1"/>
          </p:cNvSpPr>
          <p:nvPr>
            <p:ph type="body" sz="quarter" idx="40" hasCustomPrompt="1"/>
          </p:nvPr>
        </p:nvSpPr>
        <p:spPr>
          <a:xfrm>
            <a:off x="15544800" y="14328648"/>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18" name="Content Placeholder 17"/>
          <p:cNvSpPr>
            <a:spLocks noGrp="1"/>
          </p:cNvSpPr>
          <p:nvPr>
            <p:ph sz="quarter" idx="23" hasCustomPrompt="1"/>
          </p:nvPr>
        </p:nvSpPr>
        <p:spPr>
          <a:xfrm>
            <a:off x="15544800" y="15773399"/>
            <a:ext cx="12801600" cy="6694973"/>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4" name="Text Placeholder 6"/>
          <p:cNvSpPr>
            <a:spLocks noGrp="1"/>
          </p:cNvSpPr>
          <p:nvPr>
            <p:ph type="body" sz="quarter" idx="29" hasCustomPrompt="1"/>
          </p:nvPr>
        </p:nvSpPr>
        <p:spPr>
          <a:xfrm>
            <a:off x="155448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55448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990088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9900880" y="7114032"/>
            <a:ext cx="12801600" cy="731520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9900880" y="14914834"/>
            <a:ext cx="12801600" cy="453861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39" name="Text Placeholder 6"/>
          <p:cNvSpPr>
            <a:spLocks noGrp="1"/>
          </p:cNvSpPr>
          <p:nvPr>
            <p:ph type="body" sz="quarter" idx="41" hasCustomPrompt="1"/>
          </p:nvPr>
        </p:nvSpPr>
        <p:spPr>
          <a:xfrm>
            <a:off x="29900880" y="19767596"/>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40" name="Content Placeholder 17"/>
          <p:cNvSpPr>
            <a:spLocks noGrp="1"/>
          </p:cNvSpPr>
          <p:nvPr>
            <p:ph sz="quarter" idx="42" hasCustomPrompt="1"/>
          </p:nvPr>
        </p:nvSpPr>
        <p:spPr>
          <a:xfrm>
            <a:off x="29900880" y="21212348"/>
            <a:ext cx="12801600" cy="434478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29" name="Text Placeholder 6"/>
          <p:cNvSpPr>
            <a:spLocks noGrp="1"/>
          </p:cNvSpPr>
          <p:nvPr>
            <p:ph type="body" sz="quarter" idx="34" hasCustomPrompt="1"/>
          </p:nvPr>
        </p:nvSpPr>
        <p:spPr>
          <a:xfrm>
            <a:off x="29900880" y="2572207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9900880" y="27166824"/>
            <a:ext cx="12801600" cy="446227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p:txBody>
      </p:sp>
      <p:sp>
        <p:nvSpPr>
          <p:cNvPr id="3" name="Date Placeholder 2"/>
          <p:cNvSpPr>
            <a:spLocks noGrp="1"/>
          </p:cNvSpPr>
          <p:nvPr>
            <p:ph type="dt" sz="half" idx="10"/>
          </p:nvPr>
        </p:nvSpPr>
        <p:spPr/>
        <p:txBody>
          <a:bodyPr/>
          <a:lstStyle/>
          <a:p>
            <a:fld id="{ECAA57DF-1C19-4726-AB84-014692BAD8F5}"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‹Nº›</a:t>
            </a:fld>
            <a:endParaRPr lang="en-US"/>
          </a:p>
        </p:txBody>
      </p:sp>
      <p:sp>
        <p:nvSpPr>
          <p:cNvPr id="8" name="Picture Placeholder 7"/>
          <p:cNvSpPr>
            <a:spLocks noGrp="1"/>
          </p:cNvSpPr>
          <p:nvPr>
            <p:ph type="pic" sz="quarter" idx="43"/>
          </p:nvPr>
        </p:nvSpPr>
        <p:spPr>
          <a:xfrm>
            <a:off x="32270700" y="0"/>
            <a:ext cx="11620500" cy="3842445"/>
          </a:xfrm>
          <a:effectDag name="">
            <a:cont type="tree" name="">
              <a:effect ref="fillLine"/>
              <a:alphaMod>
                <a:cont name="">
                  <a:fill>
                    <a:gradFill>
                      <a:gsLst>
                        <a:gs pos="60000">
                          <a:srgbClr val="000000">
                            <a:alpha val="100000"/>
                          </a:srgbClr>
                        </a:gs>
                        <a:gs pos="97000">
                          <a:srgbClr val="000000">
                            <a:alpha val="0"/>
                          </a:srgbClr>
                        </a:gs>
                      </a:gsLst>
                      <a:lin ang="10800000"/>
                    </a:gradFill>
                  </a:fill>
                </a:cont>
              </a:alphaMod>
            </a:cont>
          </a:effectDag>
        </p:spPr>
        <p:txBody>
          <a:bodyPr lIns="91440" tIns="457200" rIns="91440"/>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ltGray">
          <a:xfrm>
            <a:off x="0" y="0"/>
            <a:ext cx="43891200" cy="5029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1158240" y="685860"/>
            <a:ext cx="30175200" cy="297174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158240" y="6019800"/>
            <a:ext cx="41589960" cy="236296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12/8/2025</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‹Nº›</a:t>
            </a:fld>
            <a:endParaRPr lang="en-US"/>
          </a:p>
        </p:txBody>
      </p:sp>
      <p:sp>
        <p:nvSpPr>
          <p:cNvPr id="8" name="Rectangle 7"/>
          <p:cNvSpPr/>
          <p:nvPr userDrawn="1"/>
        </p:nvSpPr>
        <p:spPr bwMode="gray">
          <a:xfrm>
            <a:off x="0" y="3886200"/>
            <a:ext cx="43891200" cy="1143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userDrawn="1"/>
        </p:nvCxnSpPr>
        <p:spPr>
          <a:xfrm>
            <a:off x="0" y="3886200"/>
            <a:ext cx="43891200" cy="0"/>
          </a:xfrm>
          <a:prstGeom prst="line">
            <a:avLst/>
          </a:prstGeom>
          <a:ln w="1143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11500" b="0"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pixabay.com/es/tenis-raqueta-paddle-deportes-297084/" TargetMode="External"/><Relationship Id="rId2" Type="http://schemas.openxmlformats.org/officeDocument/2006/relationships/hyperlink" Target="https://chat.openai.com/" TargetMode="Externa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58240" y="685860"/>
            <a:ext cx="30175200" cy="2188845"/>
          </a:xfrm>
        </p:spPr>
        <p:txBody>
          <a:bodyPr/>
          <a:lstStyle/>
          <a:p>
            <a:r>
              <a:rPr lang="en-US" dirty="0" err="1"/>
              <a:t>Raquet</a:t>
            </a:r>
            <a:r>
              <a:rPr lang="en-US" dirty="0"/>
              <a:t> Club</a:t>
            </a:r>
          </a:p>
        </p:txBody>
      </p:sp>
      <p:sp>
        <p:nvSpPr>
          <p:cNvPr id="23" name="Text Placeholder 22"/>
          <p:cNvSpPr>
            <a:spLocks noGrp="1"/>
          </p:cNvSpPr>
          <p:nvPr>
            <p:ph type="body" sz="quarter" idx="36"/>
          </p:nvPr>
        </p:nvSpPr>
        <p:spPr/>
        <p:txBody>
          <a:bodyPr/>
          <a:lstStyle/>
          <a:p>
            <a:r>
              <a:rPr lang="en-US" dirty="0"/>
              <a:t>Isabella Herrera| Huntington University | CS 415 Database Management – Fall 2025 - Final Project</a:t>
            </a:r>
          </a:p>
        </p:txBody>
      </p:sp>
      <p:sp>
        <p:nvSpPr>
          <p:cNvPr id="67" name="Text Placeholder 66"/>
          <p:cNvSpPr>
            <a:spLocks noGrp="1"/>
          </p:cNvSpPr>
          <p:nvPr>
            <p:ph type="body" sz="quarter" idx="13"/>
          </p:nvPr>
        </p:nvSpPr>
        <p:spPr/>
        <p:txBody>
          <a:bodyPr/>
          <a:lstStyle/>
          <a:p>
            <a:r>
              <a:rPr lang="en-US" dirty="0"/>
              <a:t>Overview</a:t>
            </a:r>
          </a:p>
        </p:txBody>
      </p:sp>
      <p:sp>
        <p:nvSpPr>
          <p:cNvPr id="12" name="Content Placeholder 11"/>
          <p:cNvSpPr>
            <a:spLocks noGrp="1"/>
          </p:cNvSpPr>
          <p:nvPr>
            <p:ph sz="quarter" idx="25"/>
          </p:nvPr>
        </p:nvSpPr>
        <p:spPr>
          <a:xfrm>
            <a:off x="1188719" y="7137184"/>
            <a:ext cx="12755881" cy="5795278"/>
          </a:xfrm>
        </p:spPr>
        <p:txBody>
          <a:bodyPr>
            <a:noAutofit/>
          </a:bodyPr>
          <a:lstStyle/>
          <a:p>
            <a:pPr algn="l"/>
            <a:r>
              <a:rPr lang="en-US" sz="2500" i="0" dirty="0">
                <a:solidFill>
                  <a:srgbClr val="1F2328"/>
                </a:solidFill>
                <a:effectLst/>
              </a:rPr>
              <a:t>Company</a:t>
            </a:r>
            <a:r>
              <a:rPr lang="en-US" sz="2500" b="1" i="0" dirty="0">
                <a:solidFill>
                  <a:srgbClr val="1F2328"/>
                </a:solidFill>
                <a:effectLst/>
              </a:rPr>
              <a:t> </a:t>
            </a:r>
            <a:r>
              <a:rPr lang="en-US" sz="2500" b="0" i="0" dirty="0">
                <a:solidFill>
                  <a:srgbClr val="1F2328"/>
                </a:solidFill>
                <a:effectLst/>
              </a:rPr>
              <a:t>based in Fort Wayne that specializes in sports involving racquets, such as Tennis, pickleball, Paddle, and racquetball. </a:t>
            </a:r>
          </a:p>
          <a:p>
            <a:pPr algn="l"/>
            <a:r>
              <a:rPr lang="en-US" sz="2500" b="0" i="0" dirty="0">
                <a:solidFill>
                  <a:srgbClr val="1F2328"/>
                </a:solidFill>
                <a:effectLst/>
              </a:rPr>
              <a:t>The club offers multiple courts and coaching sessions for clients of all ages and experiences.</a:t>
            </a:r>
          </a:p>
          <a:p>
            <a:pPr algn="l"/>
            <a:r>
              <a:rPr lang="en-US" sz="2500" b="0" i="0" dirty="0">
                <a:solidFill>
                  <a:srgbClr val="1F2328"/>
                </a:solidFill>
                <a:effectLst/>
              </a:rPr>
              <a:t>The primary users of this database will be the company's analyst, financial team and service personnel.</a:t>
            </a:r>
          </a:p>
          <a:p>
            <a:pPr marL="0" indent="0" algn="l">
              <a:buNone/>
            </a:pPr>
            <a:r>
              <a:rPr lang="en-US" sz="2500" b="1" dirty="0">
                <a:solidFill>
                  <a:srgbClr val="1F2328"/>
                </a:solidFill>
              </a:rPr>
              <a:t>User’s perspective</a:t>
            </a:r>
          </a:p>
          <a:p>
            <a:r>
              <a:rPr lang="en-US" sz="2500" b="0" i="0" dirty="0">
                <a:solidFill>
                  <a:srgbClr val="1F2328"/>
                </a:solidFill>
                <a:effectLst/>
              </a:rPr>
              <a:t> The service personnel can quickly view customers' upcoming courts and times, history, profile and weather a customer is new or returning. They can also check the availability of coaches, and identify open time slots for walk in sessions or last-minute appointments.</a:t>
            </a:r>
          </a:p>
          <a:p>
            <a:r>
              <a:rPr lang="en-US" sz="2500" b="0" i="0" dirty="0">
                <a:solidFill>
                  <a:srgbClr val="1F2328"/>
                </a:solidFill>
                <a:effectLst/>
              </a:rPr>
              <a:t>allow the staff to create meaningful reports for management</a:t>
            </a:r>
          </a:p>
        </p:txBody>
      </p:sp>
      <p:sp>
        <p:nvSpPr>
          <p:cNvPr id="8" name="Text Placeholder 7"/>
          <p:cNvSpPr>
            <a:spLocks noGrp="1"/>
          </p:cNvSpPr>
          <p:nvPr>
            <p:ph type="body" sz="quarter" idx="19"/>
          </p:nvPr>
        </p:nvSpPr>
        <p:spPr>
          <a:xfrm>
            <a:off x="1188719" y="22658642"/>
            <a:ext cx="12801600" cy="1219200"/>
          </a:xfrm>
        </p:spPr>
        <p:txBody>
          <a:bodyPr/>
          <a:lstStyle/>
          <a:p>
            <a:r>
              <a:rPr lang="en-US" dirty="0"/>
              <a:t>ER Model</a:t>
            </a:r>
          </a:p>
        </p:txBody>
      </p:sp>
      <p:sp>
        <p:nvSpPr>
          <p:cNvPr id="9" name="Text Placeholder 8"/>
          <p:cNvSpPr>
            <a:spLocks noGrp="1"/>
          </p:cNvSpPr>
          <p:nvPr>
            <p:ph type="body" sz="quarter" idx="21"/>
          </p:nvPr>
        </p:nvSpPr>
        <p:spPr/>
        <p:txBody>
          <a:bodyPr/>
          <a:lstStyle/>
          <a:p>
            <a:r>
              <a:rPr lang="en-US" dirty="0"/>
              <a:t>Data</a:t>
            </a:r>
          </a:p>
        </p:txBody>
      </p:sp>
      <p:sp>
        <p:nvSpPr>
          <p:cNvPr id="70" name="Text Placeholder 69"/>
          <p:cNvSpPr>
            <a:spLocks noGrp="1"/>
          </p:cNvSpPr>
          <p:nvPr>
            <p:ph type="body" sz="quarter" idx="40"/>
          </p:nvPr>
        </p:nvSpPr>
        <p:spPr/>
        <p:txBody>
          <a:bodyPr/>
          <a:lstStyle/>
          <a:p>
            <a:r>
              <a:rPr lang="en-US" dirty="0"/>
              <a:t>Queries</a:t>
            </a:r>
          </a:p>
        </p:txBody>
      </p:sp>
      <p:sp>
        <p:nvSpPr>
          <p:cNvPr id="17" name="Content Placeholder 16"/>
          <p:cNvSpPr>
            <a:spLocks noGrp="1"/>
          </p:cNvSpPr>
          <p:nvPr>
            <p:ph sz="quarter" idx="30"/>
          </p:nvPr>
        </p:nvSpPr>
        <p:spPr>
          <a:xfrm>
            <a:off x="15544800" y="15966908"/>
            <a:ext cx="12801600" cy="16265632"/>
          </a:xfrm>
        </p:spPr>
        <p:txBody>
          <a:bodyPr>
            <a:normAutofit fontScale="92500" lnSpcReduction="20000"/>
          </a:bodyPr>
          <a:lstStyle/>
          <a:p>
            <a:r>
              <a:rPr lang="en-US" sz="2500" b="1" dirty="0"/>
              <a:t>-- Query 4: Count reservations per customer and show only those with more than 2 reservations</a:t>
            </a:r>
          </a:p>
          <a:p>
            <a:pPr marL="0" indent="0">
              <a:buNone/>
            </a:pPr>
            <a:r>
              <a:rPr lang="en-US" sz="2500" dirty="0"/>
              <a:t>SELECT </a:t>
            </a:r>
            <a:r>
              <a:rPr lang="en-US" sz="2500" dirty="0" err="1"/>
              <a:t>id_customer</a:t>
            </a:r>
            <a:r>
              <a:rPr lang="en-US" sz="2500" dirty="0"/>
              <a:t>, COUNT(</a:t>
            </a:r>
            <a:r>
              <a:rPr lang="en-US" sz="2500" dirty="0" err="1"/>
              <a:t>id_reservation</a:t>
            </a:r>
            <a:r>
              <a:rPr lang="en-US" sz="2500" dirty="0"/>
              <a:t>) AS </a:t>
            </a:r>
            <a:r>
              <a:rPr lang="en-US" sz="2500" dirty="0" err="1"/>
              <a:t>total_reservations</a:t>
            </a:r>
            <a:endParaRPr lang="en-US" sz="2500" dirty="0"/>
          </a:p>
          <a:p>
            <a:pPr marL="0" indent="0">
              <a:buNone/>
            </a:pPr>
            <a:r>
              <a:rPr lang="en-US" sz="2500" dirty="0"/>
              <a:t>FROM </a:t>
            </a:r>
            <a:r>
              <a:rPr lang="en-US" sz="2500" dirty="0" err="1"/>
              <a:t>customer_reservation</a:t>
            </a:r>
            <a:endParaRPr lang="en-US" sz="2500" dirty="0"/>
          </a:p>
          <a:p>
            <a:pPr marL="0" indent="0">
              <a:buNone/>
            </a:pPr>
            <a:r>
              <a:rPr lang="en-US" sz="2500" dirty="0"/>
              <a:t>GROUP BY </a:t>
            </a:r>
            <a:r>
              <a:rPr lang="en-US" sz="2500" dirty="0" err="1"/>
              <a:t>id_customer</a:t>
            </a:r>
            <a:endParaRPr lang="en-US" sz="2500" dirty="0"/>
          </a:p>
          <a:p>
            <a:pPr marL="0" indent="0">
              <a:buNone/>
            </a:pPr>
            <a:r>
              <a:rPr lang="en-US" sz="2500" dirty="0"/>
              <a:t>HAVING COUNT(</a:t>
            </a:r>
            <a:r>
              <a:rPr lang="en-US" sz="2500" dirty="0" err="1"/>
              <a:t>id_reservation</a:t>
            </a:r>
            <a:r>
              <a:rPr lang="en-US" sz="2500" dirty="0"/>
              <a:t>) &gt; 2;</a:t>
            </a:r>
          </a:p>
          <a:p>
            <a:pPr marL="0" indent="0">
              <a:buNone/>
            </a:pPr>
            <a:endParaRPr lang="en-US" sz="2500" dirty="0"/>
          </a:p>
          <a:p>
            <a:pPr marL="0" indent="0">
              <a:buNone/>
            </a:pPr>
            <a:r>
              <a:rPr lang="en-US" sz="2500" b="1" dirty="0"/>
              <a:t>-- Query 5: Join reservation, customer, coach, court to show reservations without coach</a:t>
            </a:r>
          </a:p>
          <a:p>
            <a:pPr marL="0" indent="0">
              <a:buNone/>
            </a:pPr>
            <a:r>
              <a:rPr lang="en-US" sz="2500" dirty="0"/>
              <a:t>SELECT </a:t>
            </a:r>
          </a:p>
          <a:p>
            <a:pPr marL="0" indent="0">
              <a:buNone/>
            </a:pPr>
            <a:r>
              <a:rPr lang="en-US" sz="2500" dirty="0"/>
              <a:t>  </a:t>
            </a:r>
            <a:r>
              <a:rPr lang="en-US" sz="2500" dirty="0" err="1"/>
              <a:t>a.id_reservation</a:t>
            </a:r>
            <a:r>
              <a:rPr lang="en-US" sz="2500" dirty="0"/>
              <a:t>, </a:t>
            </a:r>
          </a:p>
          <a:p>
            <a:pPr marL="0" indent="0">
              <a:buNone/>
            </a:pPr>
            <a:r>
              <a:rPr lang="en-US" sz="2500" dirty="0"/>
              <a:t>  CONCAT(b.name, " ", </a:t>
            </a:r>
            <a:r>
              <a:rPr lang="en-US" sz="2500" dirty="0" err="1"/>
              <a:t>b.last_name</a:t>
            </a:r>
            <a:r>
              <a:rPr lang="en-US" sz="2500" dirty="0"/>
              <a:t>) AS "Customer", </a:t>
            </a:r>
          </a:p>
          <a:p>
            <a:pPr marL="0" indent="0">
              <a:buNone/>
            </a:pPr>
            <a:r>
              <a:rPr lang="en-US" sz="2500" dirty="0"/>
              <a:t>  </a:t>
            </a:r>
            <a:r>
              <a:rPr lang="en-US" sz="2500" dirty="0" err="1"/>
              <a:t>c.court_name</a:t>
            </a:r>
            <a:r>
              <a:rPr lang="en-US" sz="2500" dirty="0"/>
              <a:t>, </a:t>
            </a:r>
          </a:p>
          <a:p>
            <a:pPr marL="0" indent="0">
              <a:buNone/>
            </a:pPr>
            <a:r>
              <a:rPr lang="en-US" sz="2500" dirty="0"/>
              <a:t>  </a:t>
            </a:r>
            <a:r>
              <a:rPr lang="en-US" sz="2500" dirty="0" err="1"/>
              <a:t>c.base_price</a:t>
            </a:r>
            <a:r>
              <a:rPr lang="en-US" sz="2500" dirty="0"/>
              <a:t>, </a:t>
            </a:r>
          </a:p>
          <a:p>
            <a:pPr marL="0" indent="0">
              <a:buNone/>
            </a:pPr>
            <a:r>
              <a:rPr lang="en-US" sz="2500" dirty="0"/>
              <a:t>  CONCAT(</a:t>
            </a:r>
            <a:r>
              <a:rPr lang="en-US" sz="2500" dirty="0" err="1"/>
              <a:t>d.coach_name</a:t>
            </a:r>
            <a:r>
              <a:rPr lang="en-US" sz="2500" dirty="0"/>
              <a:t>, " ", </a:t>
            </a:r>
            <a:r>
              <a:rPr lang="en-US" sz="2500" dirty="0" err="1"/>
              <a:t>d.coach_last_name</a:t>
            </a:r>
            <a:r>
              <a:rPr lang="en-US" sz="2500" dirty="0"/>
              <a:t>) AS "Coach" </a:t>
            </a:r>
          </a:p>
          <a:p>
            <a:pPr marL="0" indent="0">
              <a:buNone/>
            </a:pPr>
            <a:r>
              <a:rPr lang="en-US" sz="2500" dirty="0"/>
              <a:t>  FROM </a:t>
            </a:r>
            <a:r>
              <a:rPr lang="en-US" sz="2500" dirty="0" err="1"/>
              <a:t>customer_reservation</a:t>
            </a:r>
            <a:r>
              <a:rPr lang="en-US" sz="2500" dirty="0"/>
              <a:t> AS a </a:t>
            </a:r>
          </a:p>
          <a:p>
            <a:pPr marL="0" indent="0">
              <a:buNone/>
            </a:pPr>
            <a:r>
              <a:rPr lang="en-US" sz="2500" dirty="0"/>
              <a:t>JOIN customer AS b ON </a:t>
            </a:r>
            <a:r>
              <a:rPr lang="en-US" sz="2500" dirty="0" err="1"/>
              <a:t>a.id_customer</a:t>
            </a:r>
            <a:r>
              <a:rPr lang="en-US" sz="2500" dirty="0"/>
              <a:t> = </a:t>
            </a:r>
            <a:r>
              <a:rPr lang="en-US" sz="2500" dirty="0" err="1"/>
              <a:t>b.id_customer</a:t>
            </a:r>
            <a:endParaRPr lang="en-US" sz="2500" dirty="0"/>
          </a:p>
          <a:p>
            <a:pPr marL="0" indent="0">
              <a:buNone/>
            </a:pPr>
            <a:r>
              <a:rPr lang="en-US" sz="2500" dirty="0"/>
              <a:t>JOIN courts AS c ON </a:t>
            </a:r>
            <a:r>
              <a:rPr lang="en-US" sz="2500" dirty="0" err="1"/>
              <a:t>a.courts_id_court</a:t>
            </a:r>
            <a:r>
              <a:rPr lang="en-US" sz="2500" dirty="0"/>
              <a:t> = </a:t>
            </a:r>
            <a:r>
              <a:rPr lang="en-US" sz="2500" dirty="0" err="1"/>
              <a:t>c.id_court</a:t>
            </a:r>
            <a:endParaRPr lang="en-US" sz="2500" dirty="0"/>
          </a:p>
          <a:p>
            <a:pPr marL="0" indent="0">
              <a:buNone/>
            </a:pPr>
            <a:r>
              <a:rPr lang="en-US" sz="2500" dirty="0"/>
              <a:t>JOIN coach AS d ON </a:t>
            </a:r>
            <a:r>
              <a:rPr lang="en-US" sz="2500" dirty="0" err="1"/>
              <a:t>a.id_coach</a:t>
            </a:r>
            <a:r>
              <a:rPr lang="en-US" sz="2500" dirty="0"/>
              <a:t> = </a:t>
            </a:r>
            <a:r>
              <a:rPr lang="en-US" sz="2500" dirty="0" err="1"/>
              <a:t>d.id_coach</a:t>
            </a:r>
            <a:endParaRPr lang="en-US" sz="2500" dirty="0"/>
          </a:p>
          <a:p>
            <a:pPr marL="0" indent="0">
              <a:buNone/>
            </a:pPr>
            <a:r>
              <a:rPr lang="en-US" sz="2500" dirty="0"/>
              <a:t>LIMIT 20;</a:t>
            </a:r>
          </a:p>
          <a:p>
            <a:pPr marL="0" indent="0">
              <a:buNone/>
            </a:pPr>
            <a:endParaRPr lang="en-US" sz="2500" dirty="0"/>
          </a:p>
          <a:p>
            <a:pPr marL="0" indent="0">
              <a:buNone/>
            </a:pPr>
            <a:r>
              <a:rPr lang="en-US" sz="2500" dirty="0"/>
              <a:t>If we use left join then we can see all the reservations even if coach is NULL</a:t>
            </a:r>
          </a:p>
          <a:p>
            <a:pPr marL="0" indent="0">
              <a:buNone/>
            </a:pPr>
            <a:endParaRPr lang="en-US" sz="2500" dirty="0"/>
          </a:p>
          <a:p>
            <a:pPr marL="0" indent="0">
              <a:buNone/>
            </a:pPr>
            <a:r>
              <a:rPr lang="en-US" sz="2500" b="1" dirty="0"/>
              <a:t>-- Query 9: Create a view and then using it</a:t>
            </a:r>
          </a:p>
          <a:p>
            <a:pPr marL="0" indent="0">
              <a:buNone/>
            </a:pPr>
            <a:r>
              <a:rPr lang="en-US" sz="2500" dirty="0"/>
              <a:t>CREATE VIEW </a:t>
            </a:r>
            <a:r>
              <a:rPr lang="en-US" sz="2500" dirty="0" err="1"/>
              <a:t>total_revenue</a:t>
            </a:r>
            <a:r>
              <a:rPr lang="en-US" sz="2500" dirty="0"/>
              <a:t> AS </a:t>
            </a:r>
          </a:p>
          <a:p>
            <a:pPr marL="0" indent="0">
              <a:buNone/>
            </a:pPr>
            <a:r>
              <a:rPr lang="en-US" sz="2500" dirty="0"/>
              <a:t>SELECT </a:t>
            </a:r>
          </a:p>
          <a:p>
            <a:pPr marL="0" indent="0">
              <a:buNone/>
            </a:pPr>
            <a:r>
              <a:rPr lang="en-US" sz="2500" dirty="0"/>
              <a:t>    </a:t>
            </a:r>
            <a:r>
              <a:rPr lang="en-US" sz="2500" dirty="0" err="1"/>
              <a:t>a.courts_id_court</a:t>
            </a:r>
            <a:r>
              <a:rPr lang="en-US" sz="2500" dirty="0"/>
              <a:t> AS </a:t>
            </a:r>
            <a:r>
              <a:rPr lang="en-US" sz="2500" dirty="0" err="1"/>
              <a:t>courts_id_court</a:t>
            </a:r>
            <a:r>
              <a:rPr lang="en-US" sz="2500" dirty="0"/>
              <a:t>,</a:t>
            </a:r>
          </a:p>
          <a:p>
            <a:pPr marL="0" indent="0">
              <a:buNone/>
            </a:pPr>
            <a:r>
              <a:rPr lang="en-US" sz="2500" dirty="0"/>
              <a:t>    </a:t>
            </a:r>
            <a:r>
              <a:rPr lang="en-US" sz="2500" dirty="0" err="1"/>
              <a:t>c.court_name</a:t>
            </a:r>
            <a:r>
              <a:rPr lang="en-US" sz="2500" dirty="0"/>
              <a:t> AS </a:t>
            </a:r>
            <a:r>
              <a:rPr lang="en-US" sz="2500" dirty="0" err="1"/>
              <a:t>court_name</a:t>
            </a:r>
            <a:r>
              <a:rPr lang="en-US" sz="2500" dirty="0"/>
              <a:t>,</a:t>
            </a:r>
          </a:p>
          <a:p>
            <a:pPr marL="0" indent="0">
              <a:buNone/>
            </a:pPr>
            <a:r>
              <a:rPr lang="en-US" sz="2500" dirty="0"/>
              <a:t>    SUM(</a:t>
            </a:r>
            <a:r>
              <a:rPr lang="en-US" sz="2500" dirty="0" err="1"/>
              <a:t>c.base_price</a:t>
            </a:r>
            <a:r>
              <a:rPr lang="en-US" sz="2500" dirty="0"/>
              <a:t>) AS </a:t>
            </a:r>
            <a:r>
              <a:rPr lang="en-US" sz="2500" dirty="0" err="1"/>
              <a:t>Total_Revenue</a:t>
            </a:r>
            <a:endParaRPr lang="en-US" sz="2500" dirty="0"/>
          </a:p>
          <a:p>
            <a:pPr marL="0" indent="0">
              <a:buNone/>
            </a:pPr>
            <a:r>
              <a:rPr lang="en-US" sz="2500" dirty="0"/>
              <a:t>FROM </a:t>
            </a:r>
            <a:r>
              <a:rPr lang="en-US" sz="2500" dirty="0" err="1"/>
              <a:t>customer_reservation</a:t>
            </a:r>
            <a:r>
              <a:rPr lang="en-US" sz="2500" dirty="0"/>
              <a:t> AS a</a:t>
            </a:r>
          </a:p>
          <a:p>
            <a:pPr marL="0" indent="0">
              <a:buNone/>
            </a:pPr>
            <a:r>
              <a:rPr lang="en-US" sz="2500" dirty="0"/>
              <a:t>JOIN courts AS c </a:t>
            </a:r>
          </a:p>
          <a:p>
            <a:pPr marL="0" indent="0">
              <a:buNone/>
            </a:pPr>
            <a:r>
              <a:rPr lang="en-US" sz="2500" dirty="0"/>
              <a:t>    ON </a:t>
            </a:r>
            <a:r>
              <a:rPr lang="en-US" sz="2500" dirty="0" err="1"/>
              <a:t>a.courts_id_court</a:t>
            </a:r>
            <a:r>
              <a:rPr lang="en-US" sz="2500" dirty="0"/>
              <a:t> = </a:t>
            </a:r>
            <a:r>
              <a:rPr lang="en-US" sz="2500" dirty="0" err="1"/>
              <a:t>c.id_court</a:t>
            </a:r>
            <a:endParaRPr lang="en-US" sz="2500" dirty="0"/>
          </a:p>
          <a:p>
            <a:pPr marL="0" indent="0">
              <a:buNone/>
            </a:pPr>
            <a:r>
              <a:rPr lang="en-US" sz="2500" dirty="0"/>
              <a:t>GROUP BY </a:t>
            </a:r>
          </a:p>
          <a:p>
            <a:pPr marL="0" indent="0">
              <a:buNone/>
            </a:pPr>
            <a:r>
              <a:rPr lang="en-US" sz="2500" dirty="0"/>
              <a:t>    </a:t>
            </a:r>
            <a:r>
              <a:rPr lang="en-US" sz="2500" dirty="0" err="1"/>
              <a:t>a.courts_id_court</a:t>
            </a:r>
            <a:r>
              <a:rPr lang="en-US" sz="2500" dirty="0"/>
              <a:t>,</a:t>
            </a:r>
          </a:p>
          <a:p>
            <a:pPr marL="0" indent="0">
              <a:buNone/>
            </a:pPr>
            <a:r>
              <a:rPr lang="en-US" sz="2500" dirty="0"/>
              <a:t>    </a:t>
            </a:r>
            <a:r>
              <a:rPr lang="en-US" sz="2500" dirty="0" err="1"/>
              <a:t>c.court_name</a:t>
            </a:r>
            <a:r>
              <a:rPr lang="en-US" sz="2500" dirty="0"/>
              <a:t>;</a:t>
            </a:r>
          </a:p>
          <a:p>
            <a:pPr marL="0" indent="0">
              <a:buNone/>
            </a:pPr>
            <a:endParaRPr lang="en-US" sz="2500" dirty="0"/>
          </a:p>
          <a:p>
            <a:pPr marL="0" indent="0">
              <a:buNone/>
            </a:pPr>
            <a:r>
              <a:rPr lang="en-US" sz="2500" dirty="0"/>
              <a:t>-- Use the view</a:t>
            </a:r>
          </a:p>
          <a:p>
            <a:pPr marL="0" indent="0">
              <a:buNone/>
            </a:pPr>
            <a:r>
              <a:rPr lang="en-US" sz="2500" dirty="0"/>
              <a:t>SELECT * from </a:t>
            </a:r>
            <a:r>
              <a:rPr lang="en-US" sz="2500" dirty="0" err="1"/>
              <a:t>total_revenue</a:t>
            </a:r>
            <a:r>
              <a:rPr lang="en-US" sz="2500" dirty="0"/>
              <a:t>;</a:t>
            </a:r>
          </a:p>
        </p:txBody>
      </p:sp>
      <p:sp>
        <p:nvSpPr>
          <p:cNvPr id="18" name="Text Placeholder 17"/>
          <p:cNvSpPr>
            <a:spLocks noGrp="1"/>
          </p:cNvSpPr>
          <p:nvPr>
            <p:ph type="body" sz="quarter" idx="31"/>
          </p:nvPr>
        </p:nvSpPr>
        <p:spPr/>
        <p:txBody>
          <a:bodyPr/>
          <a:lstStyle/>
          <a:p>
            <a:r>
              <a:rPr lang="en-US" dirty="0"/>
              <a:t>Reports</a:t>
            </a:r>
          </a:p>
        </p:txBody>
      </p:sp>
      <p:sp>
        <p:nvSpPr>
          <p:cNvPr id="6" name="Content Placeholder 5"/>
          <p:cNvSpPr>
            <a:spLocks noGrp="1"/>
          </p:cNvSpPr>
          <p:nvPr>
            <p:ph sz="quarter" idx="33"/>
          </p:nvPr>
        </p:nvSpPr>
        <p:spPr>
          <a:xfrm>
            <a:off x="29946600" y="18504420"/>
            <a:ext cx="12801600" cy="4538610"/>
          </a:xfrm>
        </p:spPr>
        <p:txBody>
          <a:bodyPr>
            <a:normAutofit fontScale="92500" lnSpcReduction="20000"/>
          </a:bodyPr>
          <a:lstStyle/>
          <a:p>
            <a:pPr marL="0" indent="0">
              <a:buNone/>
            </a:pPr>
            <a:r>
              <a:rPr lang="es-CO" b="1" dirty="0"/>
              <a:t>Chart #1</a:t>
            </a:r>
          </a:p>
          <a:p>
            <a:r>
              <a:rPr lang="en-US" dirty="0">
                <a:solidFill>
                  <a:srgbClr val="1F2328"/>
                </a:solidFill>
                <a:latin typeface="-apple-system"/>
              </a:rPr>
              <a:t>D</a:t>
            </a:r>
            <a:r>
              <a:rPr lang="en-US" b="0" i="0" dirty="0">
                <a:solidFill>
                  <a:srgbClr val="1F2328"/>
                </a:solidFill>
                <a:effectLst/>
                <a:latin typeface="-apple-system"/>
              </a:rPr>
              <a:t>isplays detailed reservation information, including the customer’s first and last name, the court reserved, whether a coach was required, and the full reservation date (year, month, and day)</a:t>
            </a:r>
            <a:endParaRPr lang="en-US" dirty="0"/>
          </a:p>
          <a:p>
            <a:endParaRPr lang="en-US" dirty="0"/>
          </a:p>
          <a:p>
            <a:pPr marL="0" indent="0">
              <a:buNone/>
            </a:pPr>
            <a:r>
              <a:rPr lang="en-US" b="1" dirty="0"/>
              <a:t>Chart #2</a:t>
            </a:r>
          </a:p>
          <a:p>
            <a:r>
              <a:rPr lang="en-US" dirty="0">
                <a:solidFill>
                  <a:srgbClr val="1F2328"/>
                </a:solidFill>
                <a:latin typeface="-apple-system"/>
              </a:rPr>
              <a:t>R</a:t>
            </a:r>
            <a:r>
              <a:rPr lang="en-US" b="0" i="0" dirty="0">
                <a:solidFill>
                  <a:srgbClr val="1F2328"/>
                </a:solidFill>
                <a:effectLst/>
                <a:latin typeface="-apple-system"/>
              </a:rPr>
              <a:t>epresents the number of courts reserved by customers in the year 2025. This visualization is useful for identifying trends across the three sports offered and helps determine which one is the most popular.</a:t>
            </a:r>
            <a:endParaRPr lang="en-US" dirty="0"/>
          </a:p>
        </p:txBody>
      </p:sp>
      <p:sp>
        <p:nvSpPr>
          <p:cNvPr id="71" name="Text Placeholder 70"/>
          <p:cNvSpPr>
            <a:spLocks noGrp="1"/>
          </p:cNvSpPr>
          <p:nvPr>
            <p:ph type="body" sz="quarter" idx="41"/>
          </p:nvPr>
        </p:nvSpPr>
        <p:spPr>
          <a:xfrm>
            <a:off x="30054936" y="23043030"/>
            <a:ext cx="12801600" cy="1219200"/>
          </a:xfrm>
        </p:spPr>
        <p:txBody>
          <a:bodyPr/>
          <a:lstStyle/>
          <a:p>
            <a:r>
              <a:rPr lang="en-US" dirty="0"/>
              <a:t>Future Work</a:t>
            </a:r>
          </a:p>
        </p:txBody>
      </p:sp>
      <p:sp>
        <p:nvSpPr>
          <p:cNvPr id="15" name="Content Placeholder 14"/>
          <p:cNvSpPr>
            <a:spLocks noGrp="1"/>
          </p:cNvSpPr>
          <p:nvPr>
            <p:ph sz="quarter" idx="42"/>
          </p:nvPr>
        </p:nvSpPr>
        <p:spPr>
          <a:xfrm>
            <a:off x="30054936" y="24745232"/>
            <a:ext cx="12801600" cy="4344786"/>
          </a:xfrm>
        </p:spPr>
        <p:txBody>
          <a:bodyPr>
            <a:normAutofit/>
          </a:bodyPr>
          <a:lstStyle/>
          <a:p>
            <a:pPr marL="0" indent="0">
              <a:buNone/>
            </a:pPr>
            <a:r>
              <a:rPr lang="en-US" sz="2500" dirty="0"/>
              <a:t>Several opportunities exist for future development of this project. </a:t>
            </a:r>
          </a:p>
          <a:p>
            <a:r>
              <a:rPr lang="en-US" sz="2500" dirty="0"/>
              <a:t>Implementing stored procedures or triggers to automatically calculate reservation pricing would improve consistency and reduce human error.</a:t>
            </a:r>
          </a:p>
          <a:p>
            <a:r>
              <a:rPr lang="en-US" sz="2500" dirty="0"/>
              <a:t>Data constraints, such as preventing double booking of courts or coaches, would strengthen data integrity. </a:t>
            </a:r>
          </a:p>
          <a:p>
            <a:r>
              <a:rPr lang="en-US" sz="2500" dirty="0"/>
              <a:t>Expanding the system to include payment management, membership tiers, and automated billing would create a more complete operational environment. </a:t>
            </a:r>
          </a:p>
          <a:p>
            <a:r>
              <a:rPr lang="en-US" sz="2500" dirty="0"/>
              <a:t>integrating a user interface or reporting module would support staff decision-making by providing real-time access to schedules, usage statistics, and customer information.</a:t>
            </a:r>
          </a:p>
        </p:txBody>
      </p:sp>
      <p:sp>
        <p:nvSpPr>
          <p:cNvPr id="21" name="Text Placeholder 20"/>
          <p:cNvSpPr>
            <a:spLocks noGrp="1"/>
          </p:cNvSpPr>
          <p:nvPr>
            <p:ph type="body" sz="quarter" idx="34"/>
          </p:nvPr>
        </p:nvSpPr>
        <p:spPr>
          <a:xfrm>
            <a:off x="30054936" y="29753758"/>
            <a:ext cx="12801600" cy="1219200"/>
          </a:xfrm>
        </p:spPr>
        <p:txBody>
          <a:bodyPr/>
          <a:lstStyle/>
          <a:p>
            <a:r>
              <a:rPr lang="en-US"/>
              <a:t>Works Cited</a:t>
            </a:r>
            <a:endParaRPr lang="en-US" dirty="0"/>
          </a:p>
        </p:txBody>
      </p:sp>
      <p:sp>
        <p:nvSpPr>
          <p:cNvPr id="22" name="Content Placeholder 21"/>
          <p:cNvSpPr>
            <a:spLocks noGrp="1"/>
          </p:cNvSpPr>
          <p:nvPr>
            <p:ph sz="quarter" idx="35"/>
          </p:nvPr>
        </p:nvSpPr>
        <p:spPr>
          <a:xfrm>
            <a:off x="30054936" y="31403544"/>
            <a:ext cx="12801600" cy="1219200"/>
          </a:xfrm>
        </p:spPr>
        <p:txBody>
          <a:bodyPr/>
          <a:lstStyle/>
          <a:p>
            <a:r>
              <a:rPr lang="es-ES" dirty="0" err="1"/>
              <a:t>OpenAI</a:t>
            </a:r>
            <a:r>
              <a:rPr lang="es-ES" dirty="0"/>
              <a:t>. (2025). </a:t>
            </a:r>
            <a:r>
              <a:rPr lang="es-ES" i="1" dirty="0" err="1"/>
              <a:t>ChatGPT</a:t>
            </a:r>
            <a:r>
              <a:rPr lang="es-ES" i="1" dirty="0"/>
              <a:t> (GPT‑5.1)</a:t>
            </a:r>
            <a:r>
              <a:rPr lang="es-ES" dirty="0"/>
              <a:t> [Modelo de lenguaje]. </a:t>
            </a:r>
            <a:r>
              <a:rPr lang="es-ES" dirty="0">
                <a:hlinkClick r:id="rId2"/>
              </a:rPr>
              <a:t>https://chat.openai.com</a:t>
            </a:r>
            <a:endParaRPr lang="en-US" dirty="0"/>
          </a:p>
        </p:txBody>
      </p:sp>
      <p:sp>
        <p:nvSpPr>
          <p:cNvPr id="10" name="Text Placeholder 9">
            <a:extLst>
              <a:ext uri="{FF2B5EF4-FFF2-40B4-BE49-F238E27FC236}">
                <a16:creationId xmlns:a16="http://schemas.microsoft.com/office/drawing/2014/main" id="{2252BFEF-49C5-9959-C3E6-B091CB2C364C}"/>
              </a:ext>
            </a:extLst>
          </p:cNvPr>
          <p:cNvSpPr>
            <a:spLocks noGrp="1"/>
          </p:cNvSpPr>
          <p:nvPr>
            <p:ph type="body" sz="quarter" idx="17"/>
          </p:nvPr>
        </p:nvSpPr>
        <p:spPr>
          <a:xfrm>
            <a:off x="1188720" y="13241633"/>
            <a:ext cx="12801600" cy="1219200"/>
          </a:xfrm>
        </p:spPr>
        <p:txBody>
          <a:bodyPr/>
          <a:lstStyle/>
          <a:p>
            <a:r>
              <a:rPr lang="en-US" dirty="0"/>
              <a:t>Database Design</a:t>
            </a:r>
          </a:p>
        </p:txBody>
      </p:sp>
      <p:sp>
        <p:nvSpPr>
          <p:cNvPr id="41" name="Content Placeholder 16">
            <a:extLst>
              <a:ext uri="{FF2B5EF4-FFF2-40B4-BE49-F238E27FC236}">
                <a16:creationId xmlns:a16="http://schemas.microsoft.com/office/drawing/2014/main" id="{3827A9AE-824D-EFA3-9385-3D8D1D0E98F0}"/>
              </a:ext>
            </a:extLst>
          </p:cNvPr>
          <p:cNvSpPr txBox="1">
            <a:spLocks/>
          </p:cNvSpPr>
          <p:nvPr/>
        </p:nvSpPr>
        <p:spPr>
          <a:xfrm>
            <a:off x="15544800" y="7049509"/>
            <a:ext cx="5425440" cy="7072117"/>
          </a:xfrm>
          <a:prstGeom prst="rect">
            <a:avLst/>
          </a:prstGeom>
        </p:spPr>
        <p:txBody>
          <a:bodyPr vert="horz" lIns="91440" tIns="182880" rIns="91440" bIns="45720" rtlCol="0">
            <a:norm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buNone/>
            </a:pPr>
            <a:r>
              <a:rPr lang="en-US" sz="3200" b="1" dirty="0"/>
              <a:t>Coach</a:t>
            </a:r>
          </a:p>
          <a:p>
            <a:r>
              <a:rPr lang="en-US" dirty="0" err="1"/>
              <a:t>Id_coach</a:t>
            </a:r>
            <a:endParaRPr lang="en-US" sz="3200" b="0" dirty="0">
              <a:effectLst/>
            </a:endParaRPr>
          </a:p>
          <a:p>
            <a:pPr marL="0" indent="0">
              <a:buNone/>
            </a:pPr>
            <a:r>
              <a:rPr lang="en-US" sz="3200" b="1" dirty="0">
                <a:effectLst/>
              </a:rPr>
              <a:t>Courts</a:t>
            </a:r>
          </a:p>
          <a:p>
            <a:r>
              <a:rPr lang="en-US" dirty="0" err="1"/>
              <a:t>Courts_id_courts</a:t>
            </a:r>
            <a:endParaRPr lang="en-US" sz="3200" b="0" dirty="0">
              <a:effectLst/>
            </a:endParaRPr>
          </a:p>
          <a:p>
            <a:pPr marL="0" indent="0">
              <a:buNone/>
            </a:pPr>
            <a:r>
              <a:rPr lang="en-US" sz="3200" b="1" dirty="0">
                <a:effectLst/>
              </a:rPr>
              <a:t>Reservation</a:t>
            </a:r>
          </a:p>
          <a:p>
            <a:r>
              <a:rPr lang="en-US" dirty="0" err="1"/>
              <a:t>Id_reservation</a:t>
            </a:r>
            <a:endParaRPr lang="en-US" sz="3200" b="0" dirty="0">
              <a:effectLst/>
            </a:endParaRPr>
          </a:p>
          <a:p>
            <a:pPr marL="0" indent="0">
              <a:buNone/>
            </a:pPr>
            <a:r>
              <a:rPr lang="en-US" sz="3200" b="1" dirty="0">
                <a:effectLst/>
              </a:rPr>
              <a:t>Customer</a:t>
            </a:r>
          </a:p>
          <a:p>
            <a:r>
              <a:rPr lang="en-US" sz="3200" b="0" dirty="0" err="1">
                <a:effectLst/>
              </a:rPr>
              <a:t>Id_customer</a:t>
            </a:r>
            <a:endParaRPr lang="en-US" b="1" dirty="0"/>
          </a:p>
          <a:p>
            <a:pPr marL="0" indent="0">
              <a:buNone/>
            </a:pPr>
            <a:r>
              <a:rPr lang="en-US" sz="3200" b="1" dirty="0" err="1">
                <a:effectLst/>
              </a:rPr>
              <a:t>Customer_reservation</a:t>
            </a:r>
            <a:endParaRPr lang="en-US" sz="3200" b="1" dirty="0">
              <a:effectLst/>
            </a:endParaRPr>
          </a:p>
          <a:p>
            <a:r>
              <a:rPr lang="en-US" sz="3200" b="0" dirty="0" err="1">
                <a:effectLst/>
              </a:rPr>
              <a:t>Id_customer_reservation</a:t>
            </a:r>
            <a:endParaRPr lang="en-US" sz="3200" b="0" dirty="0">
              <a:effectLst/>
            </a:endParaRPr>
          </a:p>
        </p:txBody>
      </p:sp>
      <p:pic>
        <p:nvPicPr>
          <p:cNvPr id="7" name="Imagen 6">
            <a:extLst>
              <a:ext uri="{FF2B5EF4-FFF2-40B4-BE49-F238E27FC236}">
                <a16:creationId xmlns:a16="http://schemas.microsoft.com/office/drawing/2014/main" id="{467DDB97-ABDB-48D1-8BA6-E1A151934B9F}"/>
              </a:ext>
            </a:extLst>
          </p:cNvPr>
          <p:cNvPicPr>
            <a:picLocks noChangeAspect="1"/>
          </p:cNvPicPr>
          <p:nvPr/>
        </p:nvPicPr>
        <p:blipFill>
          <a:blip r:embed="rId3"/>
          <a:stretch>
            <a:fillRect/>
          </a:stretch>
        </p:blipFill>
        <p:spPr>
          <a:xfrm>
            <a:off x="1188720" y="24171966"/>
            <a:ext cx="12647544" cy="7231578"/>
          </a:xfrm>
          <a:prstGeom prst="rect">
            <a:avLst/>
          </a:prstGeom>
        </p:spPr>
      </p:pic>
      <p:pic>
        <p:nvPicPr>
          <p:cNvPr id="16" name="Imagen 15">
            <a:extLst>
              <a:ext uri="{FF2B5EF4-FFF2-40B4-BE49-F238E27FC236}">
                <a16:creationId xmlns:a16="http://schemas.microsoft.com/office/drawing/2014/main" id="{4E84207A-B446-4822-87D7-B690F95492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46641" y="12071227"/>
            <a:ext cx="9801518" cy="5829532"/>
          </a:xfrm>
          <a:prstGeom prst="rect">
            <a:avLst/>
          </a:prstGeom>
        </p:spPr>
      </p:pic>
      <p:pic>
        <p:nvPicPr>
          <p:cNvPr id="24" name="Imagen 23">
            <a:extLst>
              <a:ext uri="{FF2B5EF4-FFF2-40B4-BE49-F238E27FC236}">
                <a16:creationId xmlns:a16="http://schemas.microsoft.com/office/drawing/2014/main" id="{F9E1E95F-F616-4152-A6DF-68554E6FBB69}"/>
              </a:ext>
            </a:extLst>
          </p:cNvPr>
          <p:cNvPicPr>
            <a:picLocks noChangeAspect="1"/>
          </p:cNvPicPr>
          <p:nvPr/>
        </p:nvPicPr>
        <p:blipFill rotWithShape="1">
          <a:blip r:embed="rId5">
            <a:extLst>
              <a:ext uri="{28A0092B-C50C-407E-A947-70E740481C1C}">
                <a14:useLocalDpi xmlns:a14="http://schemas.microsoft.com/office/drawing/2010/main" val="0"/>
              </a:ext>
            </a:extLst>
          </a:blip>
          <a:srcRect b="64078"/>
          <a:stretch/>
        </p:blipFill>
        <p:spPr>
          <a:xfrm>
            <a:off x="29946600" y="7241826"/>
            <a:ext cx="12801600" cy="4344786"/>
          </a:xfrm>
          <a:prstGeom prst="rect">
            <a:avLst/>
          </a:prstGeom>
        </p:spPr>
      </p:pic>
      <p:sp>
        <p:nvSpPr>
          <p:cNvPr id="25" name="Rectangle 1">
            <a:extLst>
              <a:ext uri="{FF2B5EF4-FFF2-40B4-BE49-F238E27FC236}">
                <a16:creationId xmlns:a16="http://schemas.microsoft.com/office/drawing/2014/main" id="{1D926EEF-09CE-44BA-8A5C-60CDB639B357}"/>
              </a:ext>
            </a:extLst>
          </p:cNvPr>
          <p:cNvSpPr>
            <a:spLocks noChangeArrowheads="1"/>
          </p:cNvSpPr>
          <p:nvPr/>
        </p:nvSpPr>
        <p:spPr bwMode="auto">
          <a:xfrm>
            <a:off x="0" y="0"/>
            <a:ext cx="43891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2328"/>
                </a:solidFill>
                <a:effectLst/>
                <a:latin typeface="-apple-system"/>
              </a:rPr>
              <a:t>he database is built around four normalized entities: </a:t>
            </a:r>
            <a:r>
              <a:rPr kumimoji="0" lang="en-US" altLang="en-US" sz="900" b="0" i="0" u="none" strike="noStrike" cap="none" normalizeH="0" baseline="0">
                <a:ln>
                  <a:noFill/>
                </a:ln>
                <a:solidFill>
                  <a:srgbClr val="1F2328"/>
                </a:solidFill>
                <a:effectLst/>
                <a:latin typeface="Monaspace Neon"/>
              </a:rPr>
              <a:t>coach</a:t>
            </a:r>
            <a:r>
              <a:rPr kumimoji="0" lang="en-US" altLang="en-US" sz="1200" b="0" i="0" u="none" strike="noStrike" cap="none" normalizeH="0" baseline="0">
                <a:ln>
                  <a:noFill/>
                </a:ln>
                <a:solidFill>
                  <a:srgbClr val="1F2328"/>
                </a:solidFill>
                <a:effectLst/>
                <a:latin typeface="-apple-system"/>
              </a:rPr>
              <a:t>, </a:t>
            </a:r>
            <a:r>
              <a:rPr kumimoji="0" lang="en-US" altLang="en-US" sz="900" b="0" i="0" u="none" strike="noStrike" cap="none" normalizeH="0" baseline="0">
                <a:ln>
                  <a:noFill/>
                </a:ln>
                <a:solidFill>
                  <a:srgbClr val="1F2328"/>
                </a:solidFill>
                <a:effectLst/>
                <a:latin typeface="Monaspace Neon"/>
              </a:rPr>
              <a:t>courts</a:t>
            </a:r>
            <a:r>
              <a:rPr kumimoji="0" lang="en-US" altLang="en-US" sz="1200" b="0" i="0" u="none" strike="noStrike" cap="none" normalizeH="0" baseline="0">
                <a:ln>
                  <a:noFill/>
                </a:ln>
                <a:solidFill>
                  <a:srgbClr val="1F2328"/>
                </a:solidFill>
                <a:effectLst/>
                <a:latin typeface="-apple-system"/>
              </a:rPr>
              <a:t>, </a:t>
            </a:r>
            <a:r>
              <a:rPr kumimoji="0" lang="en-US" altLang="en-US" sz="900" b="0" i="0" u="none" strike="noStrike" cap="none" normalizeH="0" baseline="0">
                <a:ln>
                  <a:noFill/>
                </a:ln>
                <a:solidFill>
                  <a:srgbClr val="1F2328"/>
                </a:solidFill>
                <a:effectLst/>
                <a:latin typeface="Monaspace Neon"/>
              </a:rPr>
              <a:t>reservation</a:t>
            </a:r>
            <a:r>
              <a:rPr kumimoji="0" lang="en-US" altLang="en-US" sz="1200" b="0" i="0" u="none" strike="noStrike" cap="none" normalizeH="0" baseline="0">
                <a:ln>
                  <a:noFill/>
                </a:ln>
                <a:solidFill>
                  <a:srgbClr val="1F2328"/>
                </a:solidFill>
                <a:effectLst/>
                <a:latin typeface="-apple-system"/>
              </a:rPr>
              <a:t>, and </a:t>
            </a:r>
            <a:r>
              <a:rPr kumimoji="0" lang="en-US" altLang="en-US" sz="900" b="0" i="0" u="none" strike="noStrike" cap="none" normalizeH="0" baseline="0">
                <a:ln>
                  <a:noFill/>
                </a:ln>
                <a:solidFill>
                  <a:srgbClr val="1F2328"/>
                </a:solidFill>
                <a:effectLst/>
                <a:latin typeface="Monaspace Neon"/>
              </a:rPr>
              <a:t>customer</a:t>
            </a:r>
            <a:r>
              <a:rPr kumimoji="0" lang="en-US" altLang="en-US" sz="1200" b="0" i="0" u="none" strike="noStrike" cap="none" normalizeH="0" baseline="0">
                <a:ln>
                  <a:noFill/>
                </a:ln>
                <a:solidFill>
                  <a:srgbClr val="1F2328"/>
                </a:solidFill>
                <a:effectLst/>
                <a:latin typeface="-apple-system"/>
              </a:rPr>
              <a:t>. Each table stores information related to the reservation of each customer.</a:t>
            </a:r>
            <a:r>
              <a:rPr kumimoji="0" lang="en-US" altLang="en-US" sz="2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2">
            <a:extLst>
              <a:ext uri="{FF2B5EF4-FFF2-40B4-BE49-F238E27FC236}">
                <a16:creationId xmlns:a16="http://schemas.microsoft.com/office/drawing/2014/main" id="{DC08AE55-CF3B-45F7-9F62-A39CB56CC0A4}"/>
              </a:ext>
            </a:extLst>
          </p:cNvPr>
          <p:cNvSpPr>
            <a:spLocks noChangeArrowheads="1"/>
          </p:cNvSpPr>
          <p:nvPr/>
        </p:nvSpPr>
        <p:spPr bwMode="auto">
          <a:xfrm>
            <a:off x="152400" y="152400"/>
            <a:ext cx="43891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2328"/>
                </a:solidFill>
                <a:effectLst/>
                <a:latin typeface="-apple-system"/>
              </a:rPr>
              <a:t>The database is built around four normalized entities: </a:t>
            </a:r>
            <a:r>
              <a:rPr kumimoji="0" lang="en-US" altLang="en-US" sz="900" b="0" i="0" u="none" strike="noStrike" cap="none" normalizeH="0" baseline="0">
                <a:ln>
                  <a:noFill/>
                </a:ln>
                <a:solidFill>
                  <a:srgbClr val="1F2328"/>
                </a:solidFill>
                <a:effectLst/>
                <a:latin typeface="Monaspace Neon"/>
              </a:rPr>
              <a:t>coach</a:t>
            </a:r>
            <a:r>
              <a:rPr kumimoji="0" lang="en-US" altLang="en-US" sz="1200" b="0" i="0" u="none" strike="noStrike" cap="none" normalizeH="0" baseline="0">
                <a:ln>
                  <a:noFill/>
                </a:ln>
                <a:solidFill>
                  <a:srgbClr val="1F2328"/>
                </a:solidFill>
                <a:effectLst/>
                <a:latin typeface="-apple-system"/>
              </a:rPr>
              <a:t>, </a:t>
            </a:r>
            <a:r>
              <a:rPr kumimoji="0" lang="en-US" altLang="en-US" sz="900" b="0" i="0" u="none" strike="noStrike" cap="none" normalizeH="0" baseline="0">
                <a:ln>
                  <a:noFill/>
                </a:ln>
                <a:solidFill>
                  <a:srgbClr val="1F2328"/>
                </a:solidFill>
                <a:effectLst/>
                <a:latin typeface="Monaspace Neon"/>
              </a:rPr>
              <a:t>courts</a:t>
            </a:r>
            <a:r>
              <a:rPr kumimoji="0" lang="en-US" altLang="en-US" sz="1200" b="0" i="0" u="none" strike="noStrike" cap="none" normalizeH="0" baseline="0">
                <a:ln>
                  <a:noFill/>
                </a:ln>
                <a:solidFill>
                  <a:srgbClr val="1F2328"/>
                </a:solidFill>
                <a:effectLst/>
                <a:latin typeface="-apple-system"/>
              </a:rPr>
              <a:t>, </a:t>
            </a:r>
            <a:r>
              <a:rPr kumimoji="0" lang="en-US" altLang="en-US" sz="900" b="0" i="0" u="none" strike="noStrike" cap="none" normalizeH="0" baseline="0">
                <a:ln>
                  <a:noFill/>
                </a:ln>
                <a:solidFill>
                  <a:srgbClr val="1F2328"/>
                </a:solidFill>
                <a:effectLst/>
                <a:latin typeface="Monaspace Neon"/>
              </a:rPr>
              <a:t>reservation</a:t>
            </a:r>
            <a:r>
              <a:rPr kumimoji="0" lang="en-US" altLang="en-US" sz="1200" b="0" i="0" u="none" strike="noStrike" cap="none" normalizeH="0" baseline="0">
                <a:ln>
                  <a:noFill/>
                </a:ln>
                <a:solidFill>
                  <a:srgbClr val="1F2328"/>
                </a:solidFill>
                <a:effectLst/>
                <a:latin typeface="-apple-system"/>
              </a:rPr>
              <a:t>, and </a:t>
            </a:r>
            <a:r>
              <a:rPr kumimoji="0" lang="en-US" altLang="en-US" sz="900" b="0" i="0" u="none" strike="noStrike" cap="none" normalizeH="0" baseline="0">
                <a:ln>
                  <a:noFill/>
                </a:ln>
                <a:solidFill>
                  <a:srgbClr val="1F2328"/>
                </a:solidFill>
                <a:effectLst/>
                <a:latin typeface="Monaspace Neon"/>
              </a:rPr>
              <a:t>customer</a:t>
            </a:r>
            <a:r>
              <a:rPr kumimoji="0" lang="en-US" altLang="en-US" sz="1200" b="0" i="0" u="none" strike="noStrike" cap="none" normalizeH="0" baseline="0">
                <a:ln>
                  <a:noFill/>
                </a:ln>
                <a:solidFill>
                  <a:srgbClr val="1F2328"/>
                </a:solidFill>
                <a:effectLst/>
                <a:latin typeface="-apple-system"/>
              </a:rPr>
              <a:t>. Each table stores information related to the reservation of each customer. </a:t>
            </a:r>
            <a:r>
              <a:rPr kumimoji="0" lang="en-US" altLang="en-US" sz="2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CuadroTexto 32">
            <a:extLst>
              <a:ext uri="{FF2B5EF4-FFF2-40B4-BE49-F238E27FC236}">
                <a16:creationId xmlns:a16="http://schemas.microsoft.com/office/drawing/2014/main" id="{9B7A832F-ADD7-4DE0-B9BD-C958E1684A91}"/>
              </a:ext>
            </a:extLst>
          </p:cNvPr>
          <p:cNvSpPr txBox="1"/>
          <p:nvPr/>
        </p:nvSpPr>
        <p:spPr>
          <a:xfrm>
            <a:off x="1188720" y="14656731"/>
            <a:ext cx="12847320" cy="9202519"/>
          </a:xfrm>
          <a:prstGeom prst="rect">
            <a:avLst/>
          </a:prstGeom>
          <a:noFill/>
        </p:spPr>
        <p:txBody>
          <a:bodyPr wrap="square" rtlCol="0">
            <a:spAutoFit/>
          </a:bodyPr>
          <a:lstStyle/>
          <a:p>
            <a:r>
              <a:rPr lang="en-US" sz="2700" b="1" dirty="0"/>
              <a:t>Coach</a:t>
            </a:r>
          </a:p>
          <a:p>
            <a:r>
              <a:rPr lang="en-US" sz="2700" b="0" dirty="0">
                <a:effectLst/>
              </a:rPr>
              <a:t>Personal information about the coaches: name, last name, and phone number. </a:t>
            </a:r>
          </a:p>
          <a:p>
            <a:br>
              <a:rPr lang="en-US" sz="2700" b="0" dirty="0">
                <a:effectLst/>
              </a:rPr>
            </a:br>
            <a:r>
              <a:rPr lang="en-US" sz="2700" b="1" dirty="0">
                <a:effectLst/>
              </a:rPr>
              <a:t>Courts</a:t>
            </a:r>
          </a:p>
          <a:p>
            <a:r>
              <a:rPr lang="en-US" sz="2700" b="0" dirty="0">
                <a:effectLst/>
              </a:rPr>
              <a:t>The courts table stores the </a:t>
            </a:r>
            <a:r>
              <a:rPr lang="en-US" sz="2700" b="0" dirty="0" err="1">
                <a:effectLst/>
              </a:rPr>
              <a:t>courts_name</a:t>
            </a:r>
            <a:r>
              <a:rPr lang="en-US" sz="2700" b="0" dirty="0">
                <a:effectLst/>
              </a:rPr>
              <a:t> and </a:t>
            </a:r>
            <a:r>
              <a:rPr lang="en-US" sz="2700" b="0" dirty="0" err="1">
                <a:effectLst/>
              </a:rPr>
              <a:t>base_price</a:t>
            </a:r>
            <a:r>
              <a:rPr lang="en-US" sz="2700" dirty="0"/>
              <a:t>. </a:t>
            </a:r>
            <a:r>
              <a:rPr lang="en-US" sz="2700" b="0" dirty="0">
                <a:effectLst/>
              </a:rPr>
              <a:t>The base price is the amount the customer pays.</a:t>
            </a:r>
          </a:p>
          <a:p>
            <a:br>
              <a:rPr lang="en-US" sz="2700" b="0" dirty="0">
                <a:effectLst/>
              </a:rPr>
            </a:br>
            <a:r>
              <a:rPr lang="en-US" sz="2700" b="1" dirty="0">
                <a:effectLst/>
              </a:rPr>
              <a:t>Reservation</a:t>
            </a:r>
          </a:p>
          <a:p>
            <a:r>
              <a:rPr lang="en-US" sz="2700" b="0" dirty="0">
                <a:effectLst/>
              </a:rPr>
              <a:t>The reservation table stores the start time, end time, and the date the reservation is occurring. </a:t>
            </a:r>
          </a:p>
          <a:p>
            <a:br>
              <a:rPr lang="en-US" sz="2700" b="0" dirty="0">
                <a:effectLst/>
              </a:rPr>
            </a:br>
            <a:r>
              <a:rPr lang="en-US" sz="2700" b="1" dirty="0">
                <a:effectLst/>
              </a:rPr>
              <a:t>Customer</a:t>
            </a:r>
          </a:p>
          <a:p>
            <a:r>
              <a:rPr lang="en-US" sz="2700" b="0" dirty="0">
                <a:effectLst/>
              </a:rPr>
              <a:t>The customer table stores all the private information of the customer: first name, last name, and phone number. </a:t>
            </a:r>
          </a:p>
          <a:p>
            <a:br>
              <a:rPr lang="en-US" sz="2700" b="1" dirty="0">
                <a:effectLst/>
              </a:rPr>
            </a:br>
            <a:r>
              <a:rPr lang="en-US" sz="2700" b="1" dirty="0" err="1">
                <a:effectLst/>
              </a:rPr>
              <a:t>Customer_reservation</a:t>
            </a:r>
            <a:endParaRPr lang="en-US" sz="2700" b="1" dirty="0">
              <a:effectLst/>
            </a:endParaRPr>
          </a:p>
          <a:p>
            <a:r>
              <a:rPr lang="en-US" sz="2700" b="0" dirty="0">
                <a:effectLst/>
              </a:rPr>
              <a:t>This is the central table used to retrieve information about each customer reservation. This table stores four foreign keys from all other tables, allowing it to connect all the parts of the reservation.</a:t>
            </a:r>
          </a:p>
          <a:p>
            <a:endParaRPr lang="en-US" sz="6000" dirty="0" err="1"/>
          </a:p>
        </p:txBody>
      </p:sp>
      <p:pic>
        <p:nvPicPr>
          <p:cNvPr id="39" name="Marcador de posición de imagen 38">
            <a:extLst>
              <a:ext uri="{FF2B5EF4-FFF2-40B4-BE49-F238E27FC236}">
                <a16:creationId xmlns:a16="http://schemas.microsoft.com/office/drawing/2014/main" id="{AFB1F8C8-BC60-4E0D-97CE-711AB34CFCBB}"/>
              </a:ext>
            </a:extLst>
          </p:cNvPr>
          <p:cNvPicPr>
            <a:picLocks noGrp="1" noChangeAspect="1"/>
          </p:cNvPicPr>
          <p:nvPr>
            <p:ph type="pic" sz="quarter" idx="43"/>
          </p:nvPr>
        </p:nvPicPr>
        <p:blipFill>
          <a:blip r:embed="rId6">
            <a:duotone>
              <a:schemeClr val="accent1">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3444" b="33444"/>
          <a:stretch>
            <a:fillRect/>
          </a:stretch>
        </p:blipFill>
        <p:spPr>
          <a:xfrm>
            <a:off x="32522160" y="83148"/>
            <a:ext cx="11369040" cy="3759297"/>
          </a:xfrm>
        </p:spPr>
      </p:pic>
      <p:sp>
        <p:nvSpPr>
          <p:cNvPr id="44" name="Content Placeholder 16">
            <a:extLst>
              <a:ext uri="{FF2B5EF4-FFF2-40B4-BE49-F238E27FC236}">
                <a16:creationId xmlns:a16="http://schemas.microsoft.com/office/drawing/2014/main" id="{6868B7AF-6B54-4FAE-9284-5FAAFED1B234}"/>
              </a:ext>
            </a:extLst>
          </p:cNvPr>
          <p:cNvSpPr txBox="1">
            <a:spLocks/>
          </p:cNvSpPr>
          <p:nvPr/>
        </p:nvSpPr>
        <p:spPr>
          <a:xfrm>
            <a:off x="20970240" y="7049509"/>
            <a:ext cx="7376160" cy="7072117"/>
          </a:xfrm>
          <a:prstGeom prst="rect">
            <a:avLst/>
          </a:prstGeom>
        </p:spPr>
        <p:txBody>
          <a:bodyPr vert="horz" lIns="91440" tIns="182880" rIns="91440" bIns="45720" rtlCol="0">
            <a:normAutofit/>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pPr marL="0" indent="0">
              <a:buNone/>
            </a:pPr>
            <a:r>
              <a:rPr lang="en-US" dirty="0"/>
              <a:t>Each table stores normalized, non-duplicated information that allows every reservation to be properly linked to complete customer, court, and coach details. Each table includes a primary key (PK), which is referenced as a foreign key (FK) in the </a:t>
            </a:r>
            <a:r>
              <a:rPr lang="en-US" b="1" dirty="0"/>
              <a:t>reservation</a:t>
            </a:r>
            <a:r>
              <a:rPr lang="en-US" dirty="0"/>
              <a:t> table. This structure ensures accurate relationships between tables and maintains data integrity across the entire system.</a:t>
            </a:r>
            <a:endParaRPr lang="en-US" sz="3200" b="0" dirty="0">
              <a:effectLst/>
            </a:endParaRPr>
          </a:p>
        </p:txBody>
      </p:sp>
    </p:spTree>
    <p:extLst>
      <p:ext uri="{BB962C8B-B14F-4D97-AF65-F5344CB8AC3E}">
        <p14:creationId xmlns:p14="http://schemas.microsoft.com/office/powerpoint/2010/main" val="931198942"/>
      </p:ext>
    </p:extLst>
  </p:cSld>
  <p:clrMapOvr>
    <a:masterClrMapping/>
  </p:clrMapOvr>
</p:sld>
</file>

<file path=ppt/theme/theme1.xml><?xml version="1.0" encoding="utf-8"?>
<a:theme xmlns:a="http://schemas.openxmlformats.org/drawingml/2006/main" name="Science Poster">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2" id="{A3AC1795-03CA-4218-8E9C-394F2C72EB71}" vid="{9E91E023-53D0-48CE-AFD1-CE3DA49243D0}"/>
    </a:ext>
  </a:extLst>
</a:theme>
</file>

<file path=ppt/theme/theme2.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99B7E175-EA31-4EB5-9BCC-A945A81036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Science project poster</Template>
  <TotalTime>0</TotalTime>
  <Words>936</Words>
  <Application>Microsoft Office PowerPoint</Application>
  <PresentationFormat>Personalizado</PresentationFormat>
  <Paragraphs>86</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-apple-system</vt:lpstr>
      <vt:lpstr>Arial</vt:lpstr>
      <vt:lpstr>Calibri Light</vt:lpstr>
      <vt:lpstr>Monaspace Neon</vt:lpstr>
      <vt:lpstr>Science Poster</vt:lpstr>
      <vt:lpstr>Raquet Club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2016-11-28T02:36:27Z</dcterms:created>
  <dcterms:modified xsi:type="dcterms:W3CDTF">2025-12-09T01:07:36Z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TC040013439991</vt:lpwstr>
  </property>
</Properties>
</file>